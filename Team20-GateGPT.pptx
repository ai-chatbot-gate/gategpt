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7" r:id="rId1"/>
    <p:sldMasterId id="2147483688" r:id="rId2"/>
    <p:sldMasterId id="2147483689" r:id="rId3"/>
    <p:sldMasterId id="2147483690" r:id="rId4"/>
    <p:sldMasterId id="2147483691" r:id="rId5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9" r:id="rId26"/>
    <p:sldId id="276" r:id="rId27"/>
    <p:sldId id="277" r:id="rId28"/>
    <p:sldId id="278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29F12B-DD2F-434A-8BDD-88915C9BCD54}">
  <a:tblStyle styleId="{B229F12B-DD2F-434A-8BDD-88915C9BCD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6" name="Google Shape;746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7" name="Google Shape;747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9" name="Google Shape;749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0" name="Google Shape;750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5" name="Google Shape;10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C024CD81-64E4-11ED-2335-5A2A7F17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453D28CA-1E4B-49FB-9584-CE5B3D377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C5FAA1C0-053E-519A-7174-1C13DA0F4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791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1E11EC65-0951-FE1C-7D26-DF939CBF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B18CF885-B87E-F7C9-5A0B-3C950FF4B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172B5FEC-85AC-9313-0778-CFBA11166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469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9E3D4399-0067-9EFC-6919-304B0E11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9A46C554-4679-88C9-7B35-E16858B60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ADE8533A-E65C-E0DE-A0BB-71F2DFEDC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2080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65144AAD-CF37-D909-7B40-BA93E6B3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44FE22B8-4067-616B-CC5C-10A66D45A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916CD7EB-2E87-F6E6-0640-3EF9364ED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8863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8409F510-A5F1-2161-6E60-CA2DA44B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BC9E0521-8F02-CB79-D06C-705603E30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AFC65F50-0496-E4CA-CBFC-3134D3CAD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2689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586BB6FB-B2FD-DD98-73FB-129D05AE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79DC8025-E754-618A-F218-74AB5509B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7756390C-75BF-E0B3-2A6B-9B95E400E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597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3324ED75-DBF0-0F2F-E6C9-177FF5CC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E8EDAD79-9E38-26ED-72F0-239F149EA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3209F8C5-24EB-3499-EBBB-2EF7F0EAE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608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AAF0F46A-7CC7-B7FB-63DD-68FEC213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B52FE5A3-D36F-2B25-CE3F-F143D79E2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10F730EF-55AF-B0E2-61C4-6EB7F31CA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6023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1B7474FA-2C0D-2C3A-A1E7-FDF8BCE3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FD2F06A4-8F8D-6003-0192-441D1F0A7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855F6DA1-A19B-2548-3FB3-23CE0EC90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1219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F2A52B02-6DF7-022A-7473-ACF3C45F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C1B815F8-CAF7-E5A6-C933-ECB5BD9E4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0DE5E9CC-3F58-D030-6193-97EA6A129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739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E189C41D-D30C-1BA3-825D-C9AAFC9E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A6BFE7F9-5AC0-3153-55D0-BCD12E283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FEFD6100-BA9E-3CA0-EBD3-9C77CDFE1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905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05E7A3AD-7A38-68E5-D41B-E4617BCE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:notes">
            <a:extLst>
              <a:ext uri="{FF2B5EF4-FFF2-40B4-BE49-F238E27FC236}">
                <a16:creationId xmlns:a16="http://schemas.microsoft.com/office/drawing/2014/main" id="{9F787B3D-9CAD-27E4-C7B9-3D81A4971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8:notes">
            <a:extLst>
              <a:ext uri="{FF2B5EF4-FFF2-40B4-BE49-F238E27FC236}">
                <a16:creationId xmlns:a16="http://schemas.microsoft.com/office/drawing/2014/main" id="{D4553C89-1909-F392-6648-F2224B41A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432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3" name="Google Shape;763;p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b.sc.u4cse23013@cb.students.amrita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5"/>
          <p:cNvSpPr txBox="1">
            <a:spLocks noGrp="1"/>
          </p:cNvSpPr>
          <p:nvPr>
            <p:ph type="ctrTitle"/>
          </p:nvPr>
        </p:nvSpPr>
        <p:spPr>
          <a:xfrm>
            <a:off x="1071716" y="361876"/>
            <a:ext cx="9615948" cy="11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6072"/>
              </a:buClr>
              <a:buSzPct val="100000"/>
              <a:buFont typeface="Poppins"/>
              <a:buNone/>
            </a:pPr>
            <a:r>
              <a:rPr lang="en-IN" sz="2500" dirty="0"/>
              <a:t>23CSE461-Full Stack Frameworks</a:t>
            </a:r>
            <a:endParaRPr sz="2500" dirty="0"/>
          </a:p>
        </p:txBody>
      </p:sp>
      <p:sp>
        <p:nvSpPr>
          <p:cNvPr id="2" name="Google Shape;1029;p45">
            <a:extLst>
              <a:ext uri="{FF2B5EF4-FFF2-40B4-BE49-F238E27FC236}">
                <a16:creationId xmlns:a16="http://schemas.microsoft.com/office/drawing/2014/main" id="{44645782-8B69-9F4E-E352-5240742D82DD}"/>
              </a:ext>
            </a:extLst>
          </p:cNvPr>
          <p:cNvSpPr txBox="1"/>
          <p:nvPr/>
        </p:nvSpPr>
        <p:spPr>
          <a:xfrm>
            <a:off x="269390" y="3228539"/>
            <a:ext cx="11220600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6072"/>
              </a:buClr>
              <a:buSzPts val="2400"/>
              <a:buFont typeface="Times New Roman"/>
              <a:buNone/>
            </a:pPr>
            <a:r>
              <a:rPr lang="en-IN" sz="2400" b="1" i="0" u="none" strike="noStrike" cap="none" dirty="0">
                <a:solidFill>
                  <a:srgbClr val="0860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 dirty="0">
              <a:solidFill>
                <a:srgbClr val="08607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6072"/>
              </a:buClr>
              <a:buSzPts val="2400"/>
              <a:buFont typeface="Times New Roman"/>
              <a:buNone/>
            </a:pPr>
            <a:r>
              <a:rPr lang="en-IN" sz="24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 Review</a:t>
            </a:r>
            <a:endParaRPr sz="24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114D"/>
              </a:buClr>
              <a:buSzPts val="2000"/>
              <a:buFont typeface="Times New Roman"/>
              <a:buNone/>
            </a:pPr>
            <a:r>
              <a:rPr lang="en-IN" sz="2000" b="1" i="0" u="none" strike="noStrike" cap="none" dirty="0">
                <a:solidFill>
                  <a:srgbClr val="B611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– T Senthil Kumar ( CSE)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79EABF-124A-631C-60D6-858F2D5CA458}"/>
              </a:ext>
            </a:extLst>
          </p:cNvPr>
          <p:cNvSpPr txBox="1"/>
          <p:nvPr/>
        </p:nvSpPr>
        <p:spPr>
          <a:xfrm>
            <a:off x="2969342" y="2371655"/>
            <a:ext cx="7718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dirty="0"/>
              <a:t>AI Chatbot for College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7DF76C-9AAD-2271-1BF8-62E68089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8" y="0"/>
            <a:ext cx="10515600" cy="1325700"/>
          </a:xfrm>
        </p:spPr>
        <p:txBody>
          <a:bodyPr/>
          <a:lstStyle/>
          <a:p>
            <a:pPr algn="ctr"/>
            <a:r>
              <a:rPr lang="en-IN" dirty="0"/>
              <a:t>Team Members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2B31DE-B483-C9E7-B957-8C8D1BED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79211"/>
              </p:ext>
            </p:extLst>
          </p:nvPr>
        </p:nvGraphicFramePr>
        <p:xfrm>
          <a:off x="1333909" y="2302659"/>
          <a:ext cx="10248491" cy="2138680"/>
        </p:xfrm>
        <a:graphic>
          <a:graphicData uri="http://schemas.openxmlformats.org/drawingml/2006/table">
            <a:tbl>
              <a:tblPr firstRow="1" bandRow="1">
                <a:tableStyleId>{B229F12B-DD2F-434A-8BDD-88915C9BCD54}</a:tableStyleId>
              </a:tblPr>
              <a:tblGrid>
                <a:gridCol w="1931089">
                  <a:extLst>
                    <a:ext uri="{9D8B030D-6E8A-4147-A177-3AD203B41FA5}">
                      <a16:colId xmlns:a16="http://schemas.microsoft.com/office/drawing/2014/main" val="1596973332"/>
                    </a:ext>
                  </a:extLst>
                </a:gridCol>
                <a:gridCol w="1702642">
                  <a:extLst>
                    <a:ext uri="{9D8B030D-6E8A-4147-A177-3AD203B41FA5}">
                      <a16:colId xmlns:a16="http://schemas.microsoft.com/office/drawing/2014/main" val="2624330783"/>
                    </a:ext>
                  </a:extLst>
                </a:gridCol>
                <a:gridCol w="2644983">
                  <a:extLst>
                    <a:ext uri="{9D8B030D-6E8A-4147-A177-3AD203B41FA5}">
                      <a16:colId xmlns:a16="http://schemas.microsoft.com/office/drawing/2014/main" val="4278308012"/>
                    </a:ext>
                  </a:extLst>
                </a:gridCol>
                <a:gridCol w="2553932">
                  <a:extLst>
                    <a:ext uri="{9D8B030D-6E8A-4147-A177-3AD203B41FA5}">
                      <a16:colId xmlns:a16="http://schemas.microsoft.com/office/drawing/2014/main" val="3138371054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3349007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Personal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Official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Phone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64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Bharath Senthilkumar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CB.SC.U4CSE23013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bharath17082005@gmail.com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cb.sc.u4cse23013@cb.students.amrita.edu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8778788665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3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Prajith Maharaja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CB.SC.U4CSE23135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notprajith@gmail.com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hlinkClick r:id="rId3"/>
                        </a:rPr>
                        <a:t>cb.sc.u4cse23135@cb.students.amrita.edu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9080960556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45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Sandheep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CB.SC.U4CSE23144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hlinkClick r:id="rId3"/>
                        </a:rPr>
                        <a:t>cb.sc.u4cse23144@cb.students.amrita.edu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8903993757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082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7"/>
          <p:cNvSpPr txBox="1">
            <a:spLocks noGrp="1"/>
          </p:cNvSpPr>
          <p:nvPr>
            <p:ph type="title"/>
          </p:nvPr>
        </p:nvSpPr>
        <p:spPr>
          <a:xfrm>
            <a:off x="838200" y="336887"/>
            <a:ext cx="105156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the product</a:t>
            </a:r>
            <a:endParaRPr lang="en-IN" dirty="0"/>
          </a:p>
        </p:txBody>
      </p:sp>
      <p:sp>
        <p:nvSpPr>
          <p:cNvPr id="1042" name="Google Shape;1042;p47"/>
          <p:cNvSpPr txBox="1">
            <a:spLocks noGrp="1"/>
          </p:cNvSpPr>
          <p:nvPr>
            <p:ph type="body" idx="1"/>
          </p:nvPr>
        </p:nvSpPr>
        <p:spPr>
          <a:xfrm>
            <a:off x="562897" y="1153386"/>
            <a:ext cx="10515600" cy="48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3000" dirty="0"/>
              <a:t>An intelligent, full-stack AI chatbot designed for exam preparation (UPSC, GATE, CAT, NEET, JEE).</a:t>
            </a:r>
          </a:p>
          <a:p>
            <a:r>
              <a:rPr lang="en-US" sz="3000" dirty="0"/>
              <a:t>Uses a </a:t>
            </a:r>
            <a:r>
              <a:rPr lang="en-US" sz="3000" b="1" dirty="0"/>
              <a:t>Socratic pedagogical strategy</a:t>
            </a:r>
            <a:r>
              <a:rPr lang="en-US" sz="3000" dirty="0"/>
              <a:t> to guide students toward answers rather than providing direct solutions.</a:t>
            </a:r>
          </a:p>
          <a:p>
            <a:r>
              <a:rPr lang="en-US" sz="3000" dirty="0"/>
              <a:t>Features a dedicated </a:t>
            </a:r>
            <a:r>
              <a:rPr lang="en-US" sz="3000" b="1" dirty="0"/>
              <a:t>"Exam Mode"</a:t>
            </a:r>
            <a:r>
              <a:rPr lang="en-US" sz="3000" dirty="0"/>
              <a:t> that simulates strict invigilation and exam-specific constraints.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8"/>
          <p:cNvSpPr txBox="1">
            <a:spLocks noGrp="1"/>
          </p:cNvSpPr>
          <p:nvPr>
            <p:ph type="title"/>
          </p:nvPr>
        </p:nvSpPr>
        <p:spPr>
          <a:xfrm>
            <a:off x="2208570" y="198284"/>
            <a:ext cx="71784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 Compared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F57B-93A3-BBC9-FB24-024E727A3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2723" y="1266224"/>
            <a:ext cx="1114655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vs. Standard Chatbots (e.g., ChatGPT):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generic bots, this system accesses specific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Year Question (PYQ)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databases and avoids hallucinations by using RAG (Retrieval-Augmented Generation).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vs. Traditional LMS: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Moves beyond static content delivery to provide dynamic, personalized study scheduling and active recall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9"/>
          <p:cNvSpPr txBox="1">
            <a:spLocks noGrp="1"/>
          </p:cNvSpPr>
          <p:nvPr>
            <p:ph type="title"/>
          </p:nvPr>
        </p:nvSpPr>
        <p:spPr>
          <a:xfrm>
            <a:off x="234193" y="104344"/>
            <a:ext cx="105156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the product</a:t>
            </a:r>
            <a:endParaRPr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CB186C-EC61-F524-3EFC-6B97CD75E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4193" y="1286302"/>
            <a:ext cx="1136160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Mode: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Toggles the AI persona to be strict and concise, focusing on high-yield keywords.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Scheduling: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study planners with reminders for weak topics.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PYQ Integration: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Retrieval of specific past paper questions for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0"/>
          <p:cNvSpPr txBox="1">
            <a:spLocks noGrp="1"/>
          </p:cNvSpPr>
          <p:nvPr>
            <p:ph type="title"/>
          </p:nvPr>
        </p:nvSpPr>
        <p:spPr>
          <a:xfrm>
            <a:off x="471948" y="300989"/>
            <a:ext cx="105156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cs typeface="Times New Roman"/>
                <a:sym typeface="Times New Roman"/>
              </a:rPr>
              <a:t>Reports</a:t>
            </a:r>
            <a:endParaRPr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5C7AF-7311-E885-0883-FDA13B7E1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1948" y="1384179"/>
            <a:ext cx="99481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Progress Reports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highlighting strengths and weak areas based on chat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 Coverage Analytics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the student has completed the syllabus.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1"/>
          <p:cNvSpPr txBox="1">
            <a:spLocks noGrp="1"/>
          </p:cNvSpPr>
          <p:nvPr>
            <p:ph type="title"/>
          </p:nvPr>
        </p:nvSpPr>
        <p:spPr>
          <a:xfrm>
            <a:off x="1162663" y="451813"/>
            <a:ext cx="9112045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and Non functional Requirements of the project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45043B-D406-C6C7-7518-9C14A693E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7150" y="1689251"/>
            <a:ext cx="1171021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must accurately retrieve past questions, enforce the Socratic dialogue method, and manage user schedules.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Non-Functional: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Low-latency responses (real-time chat), data privacy (secure student records), and scalability (handling multiple exam databases).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/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the product is important for users?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00FBEA-535F-211D-AFF8-090F0057B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58" y="1450015"/>
            <a:ext cx="1118219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preparing for competitive exams (UPSC, GATE, NEET) often struggle with overwhelming syllabi and inefficient time management without personal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are building an AI-driven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"Smart Tutor"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Socratic method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(teaching by asking) to ensure deep understanding rather than just rote memorization.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Innovation: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static apps, this system offers a strict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"Exam Mode"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automated, adaptive scheduling to simulate real exam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Impact: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acts as a 24/7 mentor that transforms passive reading into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recall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keeping students disciplined and exam-ready.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53"/>
          <p:cNvSpPr txBox="1">
            <a:spLocks noGrp="1"/>
          </p:cNvSpPr>
          <p:nvPr>
            <p:ph type="title"/>
          </p:nvPr>
        </p:nvSpPr>
        <p:spPr>
          <a:xfrm>
            <a:off x="1585451" y="220416"/>
            <a:ext cx="8050161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114D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B611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Role in the product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A00C6A-913D-F37B-1BDA-684FD26C60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4100" y="1347614"/>
            <a:ext cx="102928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Pedagogical Agent (The Socratic Brain)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AI does not just retrieve data; it analyzes the student's query to understand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enforce the "Socratic Method"—generating guiding questions to lead the student to the answer instead of providing it directly.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Retrieval (RAG Pipeline)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semantically index thousands of Previous Year Question (PYQ) papers. This allows the system to fetch specific questions (e.g., "Find a hard Thermodynamics question from GATE 2022") rather than generic internet answers.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Scheduling &amp; Personalization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AI tracks user performance to identify "weak zones.“ It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Spaced Repetition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dynamically alter the study schedule, reminding students to review specific topics right before they are likely to forget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Persona Simulation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AI manages "State" to switch personalities instantly. It transitions from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Supportive Mentor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(verbose, encouraging) in Study Mode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 Invigilator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(concise, time-bound) in Exam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4"/>
          <p:cNvSpPr txBox="1">
            <a:spLocks noGrp="1"/>
          </p:cNvSpPr>
          <p:nvPr>
            <p:ph type="title"/>
          </p:nvPr>
        </p:nvSpPr>
        <p:spPr>
          <a:xfrm>
            <a:off x="838200" y="140173"/>
            <a:ext cx="9721646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114D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B6114D"/>
                </a:solidFill>
                <a:latin typeface="Times New Roman"/>
                <a:cs typeface="Times New Roman"/>
                <a:sym typeface="Times New Roman"/>
              </a:rPr>
              <a:t>Algorithms and Technology Stack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0AB4C-4781-12BC-13C3-391A19C2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4922"/>
            <a:ext cx="12074013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when a student asks a specific question from a past exam (e.g., "Show me a hard questions on Thermodynamics from GATE 2021").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fetch ground-truth data from uploaded PDF question papers instead of relying on the AI's general training, preventing "hallucinations."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Aspect: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Search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Architecture (LLM):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the "Socratic Method" dialogue and "Exam Mode" persona switching.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understands the context and intent of the user. It decides whether to be a supportive tutor (Study Mode) or a strict invigilator (Exam Mode).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Aspect: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(DL) / Natural Language Processing (NLP)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5"/>
          <p:cNvSpPr txBox="1">
            <a:spLocks noGrp="1"/>
          </p:cNvSpPr>
          <p:nvPr>
            <p:ph type="body" idx="1"/>
          </p:nvPr>
        </p:nvSpPr>
        <p:spPr>
          <a:xfrm>
            <a:off x="730045" y="106894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Cosine Similarity &amp; K-Nearest Neighbors (KNN):</a:t>
            </a:r>
            <a:endParaRPr lang="en-US" alt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Scenario: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Searching the database for relevant study materials.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Purpose: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Converts the student's query into a mathematical vector and finds the closest matching content from the syllabus or previous year papers.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Aspect: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Vector Embeddings / Semantic Search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Spaced Repetition Algorithm (SM-2 Variant):</a:t>
            </a:r>
            <a:endParaRPr lang="en-US" alt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Scenario: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Adaptive Scheduling.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Purpose: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Mathematically calculates the "forgetting curve" for each student. If a student struggles with a topic, the algorithm schedules a review sooner (e.g., 1 day); if they excel, it pushes the review later (e.g., 7 days).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Aspect: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500" b="1" dirty="0">
                <a:solidFill>
                  <a:schemeClr val="tx1"/>
                </a:solidFill>
                <a:latin typeface="Arial" panose="020B0604020202020204" pitchFamily="34" charset="0"/>
              </a:rPr>
              <a:t>Adaptive Learning Heuristics</a:t>
            </a:r>
            <a:endParaRPr lang="en-US" alt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2500" dirty="0"/>
          </a:p>
        </p:txBody>
      </p:sp>
      <p:sp>
        <p:nvSpPr>
          <p:cNvPr id="2" name="Google Shape;1085;p54">
            <a:extLst>
              <a:ext uri="{FF2B5EF4-FFF2-40B4-BE49-F238E27FC236}">
                <a16:creationId xmlns:a16="http://schemas.microsoft.com/office/drawing/2014/main" id="{6B039544-3713-0E10-8AAA-C0E84CCBB9EA}"/>
              </a:ext>
            </a:extLst>
          </p:cNvPr>
          <p:cNvSpPr txBox="1">
            <a:spLocks/>
          </p:cNvSpPr>
          <p:nvPr/>
        </p:nvSpPr>
        <p:spPr>
          <a:xfrm>
            <a:off x="1127022" y="258160"/>
            <a:ext cx="9721646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B6114D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B6114D"/>
                </a:solidFill>
                <a:latin typeface="Times New Roman"/>
                <a:cs typeface="Times New Roman"/>
                <a:sym typeface="Times New Roman"/>
              </a:rPr>
              <a:t>Algorithms and Technology Stack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6"/>
          <p:cNvSpPr txBox="1">
            <a:spLocks noGrp="1"/>
          </p:cNvSpPr>
          <p:nvPr>
            <p:ph type="title"/>
          </p:nvPr>
        </p:nvSpPr>
        <p:spPr>
          <a:xfrm>
            <a:off x="2460522" y="159720"/>
            <a:ext cx="6351300" cy="8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Data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8FAD03-BA64-CF5D-2CE6-F6A444D4E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478" y="1033390"/>
            <a:ext cx="11602064" cy="524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Sourcing (The Raw Material):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Official Repositories: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Aggregating official PDF versions of Previous Year Question (PYQ) papers and syllabus documents from official bodies (e.g., IIT-KGP for GATE, NTA for NEET).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Educational Resources (OER):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Integrating standard verified reference materials (NCERTs, Standard Textbooks) for concept explanation.</a:t>
            </a:r>
          </a:p>
          <a:p>
            <a:pPr marL="50800" indent="0">
              <a:buNone/>
            </a:pPr>
            <a:r>
              <a:rPr lang="en-IN" sz="2500" b="1" dirty="0"/>
              <a:t>Data Ingestion Pipeline (Processing):</a:t>
            </a:r>
            <a:endParaRPr lang="en-IN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OCR &amp; Extraction:</a:t>
            </a:r>
            <a:r>
              <a:rPr lang="en-IN" sz="2500" dirty="0"/>
              <a:t> Using Python libraries (like </a:t>
            </a:r>
            <a:r>
              <a:rPr lang="en-IN" sz="2500" i="1" dirty="0"/>
              <a:t>PyPDF2</a:t>
            </a:r>
            <a:r>
              <a:rPr lang="en-IN" sz="2500" dirty="0"/>
              <a:t> or </a:t>
            </a:r>
            <a:r>
              <a:rPr lang="en-IN" sz="2500" i="1" dirty="0" err="1"/>
              <a:t>LlamaParse</a:t>
            </a:r>
            <a:r>
              <a:rPr lang="en-IN" sz="2500" dirty="0"/>
              <a:t>) to convert scanned exam papers into machine-readable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Semantic Chunking:</a:t>
            </a:r>
            <a:r>
              <a:rPr lang="en-IN" sz="2500" dirty="0"/>
              <a:t> Breaking down massive textbooks and question banks into smaller, manageable "chunks" (e.g., individual questions or single concepts) to ensure precise retrieval.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0F813EBA-6DA9-C92E-1C4B-586F230E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9C58FC7D-2DBF-3C05-BB61-5736DDA46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Companies working on the same problem 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6F7EC9-3228-6B01-68DD-F221E79EE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4159" y="1459230"/>
            <a:ext cx="11303681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Embibe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(Bengaluru, India)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embibe.com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direct competitor that uses deep data analytics and AI to track student behavior and predict exam scores for JEE/NEET.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Khan Academy /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Khanmigo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(USA &amp; India)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khanacademy.org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Their AI tutor, "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Khanmigo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," is the closest benchmark for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Socratic Method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(teaching by asking), though it lacks specific Indian exam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58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0DE31AD8-6CA0-4ADA-1385-1CE5B83A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9FFCA6E2-1AAB-41D9-C1BA-9D35B3B26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Product Name, Slogan, Logo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BD805-E94E-BABE-287F-DE2BA7D82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51" y="1042654"/>
            <a:ext cx="839269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96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EE607CCF-3453-25D1-DD25-77D1D864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24A65D4F-6165-27F5-8379-1C396EF82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</a:t>
            </a:r>
            <a:r>
              <a:rPr lang="en-IN" sz="3600" b="1" dirty="0" err="1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Stratergy</a:t>
            </a: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Overview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8AC903-9783-AF12-9295-47402B409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48265"/>
            <a:ext cx="12192000" cy="556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Target Users:</a:t>
            </a:r>
            <a:endParaRPr lang="en-US" sz="1800" dirty="0"/>
          </a:p>
          <a:p>
            <a:pPr lvl="1"/>
            <a:r>
              <a:rPr lang="en-US" sz="1800" b="1" dirty="0"/>
              <a:t>Competitive Exam Aspirants:</a:t>
            </a:r>
            <a:r>
              <a:rPr lang="en-US" sz="1800" dirty="0"/>
              <a:t> Students preparing for high-stakes Indian exams (UPSC, GATE, JEE, NEET, CAT).</a:t>
            </a:r>
          </a:p>
          <a:p>
            <a:pPr lvl="1"/>
            <a:r>
              <a:rPr lang="en-US" sz="1800" b="1" dirty="0"/>
              <a:t>Self-Learners:</a:t>
            </a:r>
            <a:r>
              <a:rPr lang="en-US" sz="1800" dirty="0"/>
              <a:t> Individuals who cannot afford expensive coaching institutes and need a structured, disciplined study plan.</a:t>
            </a:r>
          </a:p>
          <a:p>
            <a:pPr lvl="1"/>
            <a:r>
              <a:rPr lang="en-US" sz="1800" b="1" dirty="0"/>
              <a:t>Repeaters:</a:t>
            </a:r>
            <a:r>
              <a:rPr lang="en-US" sz="1800" dirty="0"/>
              <a:t> Students re-attempting exams who need to identify and fix specific weak areas from previous attempts.</a:t>
            </a:r>
          </a:p>
          <a:p>
            <a:r>
              <a:rPr lang="en-US" sz="1800" b="1" dirty="0"/>
              <a:t>Problem Statement:</a:t>
            </a:r>
            <a:endParaRPr lang="en-US" sz="1800" dirty="0"/>
          </a:p>
          <a:p>
            <a:pPr lvl="1"/>
            <a:r>
              <a:rPr lang="en-US" sz="1800" b="1" dirty="0"/>
              <a:t>Passive Learning:</a:t>
            </a:r>
            <a:r>
              <a:rPr lang="en-US" sz="1800" dirty="0"/>
              <a:t> Most students passively read textbooks, which leads to poor retention. They lack the "active recall" enforced by a teacher.</a:t>
            </a:r>
          </a:p>
          <a:p>
            <a:pPr lvl="1"/>
            <a:r>
              <a:rPr lang="en-US" sz="1800" b="1" dirty="0"/>
              <a:t>Strategy Gap:</a:t>
            </a:r>
            <a:r>
              <a:rPr lang="en-US" sz="1800" dirty="0"/>
              <a:t> Students have access to content (books/videos) but lack a personalized strategy and daily schedule to manage the vast syllabus.</a:t>
            </a:r>
          </a:p>
          <a:p>
            <a:pPr lvl="1"/>
            <a:r>
              <a:rPr lang="en-US" sz="1800" b="1" dirty="0"/>
              <a:t>Lack of Feedback:</a:t>
            </a:r>
            <a:r>
              <a:rPr lang="en-US" sz="1800" dirty="0"/>
              <a:t> Without constant testing, students don't realize they are weak in a topic until the actual exam day.</a:t>
            </a:r>
          </a:p>
          <a:p>
            <a:r>
              <a:rPr lang="en-US" sz="1800" b="1" dirty="0"/>
              <a:t>Client / Industry Targeted:</a:t>
            </a:r>
            <a:endParaRPr lang="en-US" sz="1800" dirty="0"/>
          </a:p>
          <a:p>
            <a:pPr lvl="1"/>
            <a:r>
              <a:rPr lang="en-US" sz="1800" b="1" dirty="0"/>
              <a:t>Primary Industry:</a:t>
            </a:r>
            <a:r>
              <a:rPr lang="en-US" sz="1800" dirty="0"/>
              <a:t> The </a:t>
            </a:r>
            <a:r>
              <a:rPr lang="en-US" sz="1800" b="1" dirty="0"/>
              <a:t>EdTech &amp; E-Learning Sector</a:t>
            </a:r>
            <a:r>
              <a:rPr lang="en-US" sz="1800" dirty="0"/>
              <a:t> (specifically the Test Prep market, valued at over $10 Billion in India).</a:t>
            </a:r>
          </a:p>
          <a:p>
            <a:pPr lvl="1"/>
            <a:r>
              <a:rPr lang="en-US" sz="1800" b="1" dirty="0"/>
              <a:t>B2C Model:</a:t>
            </a:r>
            <a:r>
              <a:rPr lang="en-US" sz="1800" dirty="0"/>
              <a:t> Direct-to-student subscription service (SaaS) for personalized tutoring.</a:t>
            </a:r>
          </a:p>
          <a:p>
            <a:pPr lvl="1"/>
            <a:r>
              <a:rPr lang="en-US" sz="1800" b="1" dirty="0"/>
              <a:t>B2B Opportunities:</a:t>
            </a:r>
            <a:r>
              <a:rPr lang="en-US" sz="1800" dirty="0"/>
              <a:t> Partnership with </a:t>
            </a:r>
            <a:r>
              <a:rPr lang="en-US" sz="1800" b="1" dirty="0"/>
              <a:t>Coaching Institutes</a:t>
            </a:r>
            <a:r>
              <a:rPr lang="en-US" sz="1800" dirty="0"/>
              <a:t> and </a:t>
            </a:r>
            <a:r>
              <a:rPr lang="en-US" sz="1800" b="1" dirty="0"/>
              <a:t>Schools</a:t>
            </a:r>
            <a:r>
              <a:rPr lang="en-US" sz="1800" dirty="0"/>
              <a:t> to provide the chatbot as an "AI Teaching Assistant" for after-hours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50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7CA8B1B3-1D1F-3676-83BA-434E73E7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4E0DF3CC-57D1-6970-CBAE-B1CE8EE36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the product is important for users?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8F98E-6F60-949E-B1E5-177BF60F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47" y="219627"/>
            <a:ext cx="11054080" cy="575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5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506AD44F-9D70-8038-B08B-5FCD8433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4A6C4-AF12-5152-DA6C-D96B3F269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" y="170474"/>
            <a:ext cx="10962640" cy="600635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BD8AEC8-8D37-0409-D38E-332AD756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C859FC-650B-D2E6-E645-7C2EC3067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470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1B7D6C6C-DCE2-5076-379B-853F4114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E09D2E-985D-D366-A2EF-C182F87D3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02" y="220108"/>
            <a:ext cx="11182195" cy="595671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983E8-5B65-FD5B-EB56-CC23C61C1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20F84FC-79F9-C436-5152-B90E3F36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250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F145B6D1-E54E-34F6-5AF8-C0B1E7D0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9747F384-FEB2-4C89-B232-01755A375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433F30-65F8-24C2-739A-847DB9DE7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58" y="3112008"/>
            <a:ext cx="111821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63E0C-042C-2894-D031-49ACFEA7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3" y="464161"/>
            <a:ext cx="10972800" cy="54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58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827A7A9F-840B-D11E-1D7D-E5AC58D1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DC67BB40-5465-BC84-4482-071A763BA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similar products in the market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C70824-2679-AACB-E398-04B5AD53B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69603"/>
            <a:ext cx="11879662" cy="5576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0800" indent="0">
              <a:buNone/>
            </a:pPr>
            <a:r>
              <a:rPr lang="en-US" sz="2200" b="1" dirty="0"/>
              <a:t>1. </a:t>
            </a:r>
            <a:r>
              <a:rPr lang="en-US" sz="2200" b="1" dirty="0" err="1"/>
              <a:t>Embibe</a:t>
            </a:r>
            <a:endParaRPr lang="en-US" sz="2200" b="1" dirty="0"/>
          </a:p>
          <a:p>
            <a:pPr marL="50800" indent="0">
              <a:buNone/>
            </a:pPr>
            <a:r>
              <a:rPr lang="en-US" sz="2200" b="1" dirty="0"/>
              <a:t>URL:</a:t>
            </a:r>
            <a:r>
              <a:rPr lang="en-US" sz="2200" dirty="0"/>
              <a:t> embibe.com</a:t>
            </a:r>
          </a:p>
          <a:p>
            <a:pPr marL="50800" indent="0">
              <a:buNone/>
            </a:pPr>
            <a:r>
              <a:rPr lang="en-US" sz="2200" b="1" dirty="0"/>
              <a:t>Core Features:</a:t>
            </a:r>
            <a:endParaRPr lang="en-US" sz="2200" dirty="0"/>
          </a:p>
          <a:p>
            <a:pPr marL="533400" lvl="1" indent="0">
              <a:buNone/>
            </a:pPr>
            <a:r>
              <a:rPr lang="en-US" sz="2200" b="1" dirty="0"/>
              <a:t>Score Prediction:</a:t>
            </a:r>
            <a:r>
              <a:rPr lang="en-US" sz="2200" dirty="0"/>
              <a:t> Uses AI to predict the exact percentile a student will get based on their current performance.</a:t>
            </a:r>
          </a:p>
          <a:p>
            <a:pPr marL="533400" lvl="1" indent="0">
              <a:buNone/>
            </a:pPr>
            <a:r>
              <a:rPr lang="en-US" sz="2200" b="1" dirty="0"/>
              <a:t>Behavioral Tracking:</a:t>
            </a:r>
            <a:r>
              <a:rPr lang="en-US" sz="2200" dirty="0"/>
              <a:t> Tracks how much time a student wastes on a question or if they are "guessing" answers.</a:t>
            </a:r>
          </a:p>
          <a:p>
            <a:pPr marL="533400" lvl="1" indent="0">
              <a:buNone/>
            </a:pPr>
            <a:r>
              <a:rPr lang="en-US" sz="2200" b="1" dirty="0"/>
              <a:t>Video Content:</a:t>
            </a:r>
            <a:r>
              <a:rPr lang="en-US" sz="2200" dirty="0"/>
              <a:t> A vast library of 3D animated videos for science concepts.</a:t>
            </a:r>
          </a:p>
          <a:p>
            <a:pPr marL="50800" indent="0">
              <a:buNone/>
            </a:pPr>
            <a:r>
              <a:rPr lang="en-US" sz="2200" b="1" dirty="0"/>
              <a:t>Number of Users:</a:t>
            </a:r>
            <a:r>
              <a:rPr lang="en-US" sz="2200" dirty="0"/>
              <a:t> 500+ Million attempts recorded (approx. 10M+ registered users).</a:t>
            </a:r>
          </a:p>
          <a:p>
            <a:pPr marL="50800" indent="0">
              <a:buNone/>
            </a:pPr>
            <a:r>
              <a:rPr lang="en-US" sz="2200" b="1" dirty="0"/>
              <a:t>Limitations:</a:t>
            </a:r>
            <a:endParaRPr lang="en-US" sz="2200" dirty="0"/>
          </a:p>
          <a:p>
            <a:pPr marL="50800" indent="0">
              <a:buNone/>
            </a:pPr>
            <a:r>
              <a:rPr lang="en-US" sz="2200" b="1" dirty="0"/>
              <a:t>Complexity:</a:t>
            </a:r>
            <a:r>
              <a:rPr lang="en-US" sz="2200" dirty="0"/>
              <a:t> The dashboard is extremely analytics-heavy, which can overwhelm average students.</a:t>
            </a:r>
          </a:p>
          <a:p>
            <a:pPr marL="50800" indent="0">
              <a:buNone/>
            </a:pPr>
            <a:r>
              <a:rPr lang="en-US" sz="2200" b="1" dirty="0"/>
              <a:t>Passive Learning:</a:t>
            </a:r>
            <a:r>
              <a:rPr lang="en-US" sz="2200" dirty="0"/>
              <a:t> While it tracks behavior, it does not use the </a:t>
            </a:r>
            <a:r>
              <a:rPr lang="en-US" sz="2200" b="1" dirty="0"/>
              <a:t>Socratic Method</a:t>
            </a:r>
            <a:r>
              <a:rPr lang="en-US" sz="2200" dirty="0"/>
              <a:t> (teaching by questioning). It primarily delivers content and tests rather than acting as a conversational tutor.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4844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F0AE9B92-346A-7C1B-D5B3-3F4809B5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B138CBCA-7F9F-4E4B-059F-740EB27A3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similar products in the market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459F06-3A86-DA34-C90A-1965FC4F5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" y="736981"/>
            <a:ext cx="11879662" cy="538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0800" indent="0">
              <a:buNone/>
            </a:pPr>
            <a:r>
              <a:rPr lang="en-US" sz="2200" b="1" dirty="0"/>
              <a:t>2. Khan Academy (</a:t>
            </a:r>
            <a:r>
              <a:rPr lang="en-US" sz="2200" b="1" dirty="0" err="1"/>
              <a:t>Khanmigo</a:t>
            </a:r>
            <a:r>
              <a:rPr lang="en-US" sz="2200" b="1" dirty="0"/>
              <a:t>)</a:t>
            </a:r>
          </a:p>
          <a:p>
            <a:pPr marL="50800" indent="0">
              <a:buNone/>
            </a:pPr>
            <a:r>
              <a:rPr lang="en-US" sz="2200" b="1" dirty="0"/>
              <a:t>URL:</a:t>
            </a:r>
            <a:r>
              <a:rPr lang="en-US" sz="2200" dirty="0"/>
              <a:t> khanacademy.org/</a:t>
            </a:r>
            <a:r>
              <a:rPr lang="en-US" sz="2200" dirty="0" err="1"/>
              <a:t>khanmigo</a:t>
            </a:r>
            <a:endParaRPr lang="en-US" sz="2200" dirty="0"/>
          </a:p>
          <a:p>
            <a:pPr marL="50800" indent="0">
              <a:buNone/>
            </a:pPr>
            <a:r>
              <a:rPr lang="en-US" sz="2200" b="1" dirty="0"/>
              <a:t>Core Features:</a:t>
            </a:r>
            <a:endParaRPr lang="en-US" sz="2200" dirty="0"/>
          </a:p>
          <a:p>
            <a:pPr marL="533400" lvl="1" indent="0">
              <a:buNone/>
            </a:pPr>
            <a:r>
              <a:rPr lang="en-US" sz="2200" b="1" dirty="0"/>
              <a:t>True Socratic Method:</a:t>
            </a:r>
            <a:r>
              <a:rPr lang="en-US" sz="2200" dirty="0"/>
              <a:t> The AI is strictly instructed </a:t>
            </a:r>
            <a:r>
              <a:rPr lang="en-US" sz="2200" i="1" dirty="0"/>
              <a:t>not</a:t>
            </a:r>
            <a:r>
              <a:rPr lang="en-US" sz="2200" dirty="0"/>
              <a:t> to give answers but to ask guiding questions (exactly like your </a:t>
            </a:r>
            <a:r>
              <a:rPr lang="en-US" sz="2200" dirty="0" err="1"/>
              <a:t>PrepMate</a:t>
            </a:r>
            <a:r>
              <a:rPr lang="en-US" sz="2200" dirty="0"/>
              <a:t> concept).</a:t>
            </a:r>
          </a:p>
          <a:p>
            <a:pPr marL="533400" lvl="1" indent="0">
              <a:buNone/>
            </a:pPr>
            <a:r>
              <a:rPr lang="en-US" sz="2200" b="1" dirty="0"/>
              <a:t>Writing Coach:</a:t>
            </a:r>
            <a:r>
              <a:rPr lang="en-US" sz="2200" dirty="0"/>
              <a:t> Helps students write essays by giving feedback on structure rather than writing it for them.</a:t>
            </a:r>
          </a:p>
          <a:p>
            <a:pPr marL="50800" indent="0">
              <a:buNone/>
            </a:pPr>
            <a:r>
              <a:rPr lang="en-US" sz="2200" b="1" dirty="0"/>
              <a:t>Number of Users:</a:t>
            </a:r>
            <a:r>
              <a:rPr lang="en-US" sz="2200" dirty="0"/>
              <a:t> 150+ Million learners worldwide (</a:t>
            </a:r>
            <a:r>
              <a:rPr lang="en-US" sz="2200" dirty="0" err="1"/>
              <a:t>Khanmigo</a:t>
            </a:r>
            <a:r>
              <a:rPr lang="en-US" sz="2200" dirty="0"/>
              <a:t> is a newer subset).</a:t>
            </a:r>
          </a:p>
          <a:p>
            <a:pPr marL="50800" indent="0">
              <a:buNone/>
            </a:pPr>
            <a:r>
              <a:rPr lang="en-US" sz="2200" b="1" dirty="0"/>
              <a:t>Limitations:</a:t>
            </a:r>
            <a:endParaRPr lang="en-US" sz="2200" dirty="0"/>
          </a:p>
          <a:p>
            <a:pPr marL="533400" lvl="1" indent="0">
              <a:buNone/>
            </a:pPr>
            <a:r>
              <a:rPr lang="en-US" sz="2200" b="1" dirty="0"/>
              <a:t>US-Centric:</a:t>
            </a:r>
            <a:r>
              <a:rPr lang="en-US" sz="2200" dirty="0"/>
              <a:t> The content and exam logic are tailored for SAT/AP exams, not Indian competitive exams like JEE/UPSC/GATE.</a:t>
            </a:r>
          </a:p>
          <a:p>
            <a:pPr marL="533400" lvl="1" indent="0">
              <a:buNone/>
            </a:pPr>
            <a:r>
              <a:rPr lang="en-US" sz="2200" b="1" dirty="0"/>
              <a:t>No "Exam Mode":</a:t>
            </a:r>
            <a:r>
              <a:rPr lang="en-US" sz="2200" dirty="0"/>
              <a:t> It lacks the strict, time-bound "Invigilator Persona" required for high-stakes Indian entrance exams.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6316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0D594369-FCA3-8B03-288C-15E59211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">
            <a:extLst>
              <a:ext uri="{FF2B5EF4-FFF2-40B4-BE49-F238E27FC236}">
                <a16:creationId xmlns:a16="http://schemas.microsoft.com/office/drawing/2014/main" id="{97039E87-37B4-DDD7-3206-663A3F1A1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45" y="219627"/>
            <a:ext cx="9497309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600"/>
              <a:buFont typeface="Times New Roman"/>
              <a:buNone/>
            </a:pPr>
            <a:r>
              <a:rPr lang="en-IN" sz="3600" b="1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product features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F90FDC-6929-DE1C-7D39-6EAC7333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58" y="1450015"/>
            <a:ext cx="1118219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preparing for competitive exams (UPSC, GATE, NEET) often struggle with overwhelming syllabi and inefficient time management without personal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are building an AI-driven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"Smart Tutor"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Socratic 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(teaching by asking) to ensure deep understanding rather than just rote memorization.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Innovation: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static apps, this system offers a strict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"Exam Mode"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automated, adaptive scheduling to simulate real exam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acts as a 24/7 mentor that transforms passive reading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recall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keeping students disciplined and exam-ready.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B4F35-A9A7-80AD-0D92-43859DE5F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" y="293631"/>
            <a:ext cx="12019280" cy="57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E27E7938-8664-4968-4A5C-3D28FB3E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26C230-9B81-1E0C-8C60-F484371A9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335280"/>
            <a:ext cx="11155680" cy="54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29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0C9D2C81-48DA-4510-CC18-9D70E833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6E3428-9796-6665-9340-521C2AA36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0" y="233680"/>
            <a:ext cx="11104880" cy="573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85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A86B-C5DC-10CF-4D5A-F92CFE74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Modules, Reports, Forms &amp;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F0FC0-A2E3-2E42-DFF0-26987CBCC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Modules with Explanation</a:t>
            </a:r>
          </a:p>
          <a:p>
            <a:pPr lvl="1"/>
            <a:r>
              <a:rPr lang="en-IN" b="1" dirty="0"/>
              <a:t>User Management</a:t>
            </a:r>
            <a:r>
              <a:rPr lang="en-IN" dirty="0"/>
              <a:t> – Handles registration, login, profiles, and exam preferences</a:t>
            </a:r>
          </a:p>
          <a:p>
            <a:pPr lvl="1"/>
            <a:r>
              <a:rPr lang="en-US" b="1" dirty="0"/>
              <a:t>AI Chatbot Module</a:t>
            </a:r>
            <a:r>
              <a:rPr lang="en-US" dirty="0"/>
              <a:t> – Provides Socratic learning and doubt-solving using LLMs</a:t>
            </a:r>
          </a:p>
          <a:p>
            <a:pPr lvl="1"/>
            <a:r>
              <a:rPr lang="en-US" b="1" dirty="0"/>
              <a:t>Exam Mode Module</a:t>
            </a:r>
            <a:r>
              <a:rPr lang="en-US" dirty="0"/>
              <a:t> – Simulates real exam conditions with timed responses</a:t>
            </a:r>
          </a:p>
          <a:p>
            <a:pPr lvl="1"/>
            <a:r>
              <a:rPr lang="en-US" b="1" dirty="0"/>
              <a:t>PYQ Retrieval Module</a:t>
            </a:r>
            <a:r>
              <a:rPr lang="en-US" dirty="0"/>
              <a:t> – Fetches relevant previous year questions using RAG</a:t>
            </a:r>
          </a:p>
          <a:p>
            <a:pPr lvl="1"/>
            <a:r>
              <a:rPr lang="en-US" b="1" dirty="0"/>
              <a:t>Analytics &amp; Reports</a:t>
            </a:r>
            <a:r>
              <a:rPr lang="en-US" dirty="0"/>
              <a:t> – Tracks performance, strengths, and weak areas</a:t>
            </a:r>
          </a:p>
          <a:p>
            <a:pPr lvl="1"/>
            <a:r>
              <a:rPr lang="en-US" b="1" dirty="0"/>
              <a:t>Admin Module</a:t>
            </a:r>
            <a:r>
              <a:rPr lang="en-US" dirty="0"/>
              <a:t> – Manages users, content, and system monitoring</a:t>
            </a:r>
          </a:p>
          <a:p>
            <a:r>
              <a:rPr lang="en-IN" dirty="0"/>
              <a:t>Reports with Purpose</a:t>
            </a:r>
          </a:p>
          <a:p>
            <a:pPr lvl="1"/>
            <a:r>
              <a:rPr lang="en-US" b="1" dirty="0"/>
              <a:t>Student Progress Report</a:t>
            </a:r>
            <a:r>
              <a:rPr lang="en-US" dirty="0"/>
              <a:t> – Measures learning improvement</a:t>
            </a:r>
          </a:p>
          <a:p>
            <a:pPr lvl="1"/>
            <a:r>
              <a:rPr lang="en-IN" b="1" dirty="0"/>
              <a:t>Topic Coverage Report</a:t>
            </a:r>
            <a:r>
              <a:rPr lang="en-IN" dirty="0"/>
              <a:t> – Ensures syllabus completion</a:t>
            </a:r>
          </a:p>
          <a:p>
            <a:pPr lvl="1"/>
            <a:r>
              <a:rPr lang="en-US" b="1" dirty="0"/>
              <a:t>Exam Performance Report</a:t>
            </a:r>
            <a:r>
              <a:rPr lang="en-US" dirty="0"/>
              <a:t> – Evaluates exam readiness</a:t>
            </a:r>
          </a:p>
          <a:p>
            <a:pPr lvl="1"/>
            <a:r>
              <a:rPr lang="en-US" b="1" dirty="0"/>
              <a:t>PYQ Practice Report</a:t>
            </a:r>
            <a:r>
              <a:rPr lang="en-US" dirty="0"/>
              <a:t> – Tracks accuracy on past questions</a:t>
            </a:r>
          </a:p>
          <a:p>
            <a:pPr lvl="1"/>
            <a:r>
              <a:rPr lang="sv-SE" b="1" dirty="0"/>
              <a:t>System Usage Report</a:t>
            </a:r>
            <a:r>
              <a:rPr lang="sv-SE" dirty="0"/>
              <a:t> – Monitors platform engagement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C5006-7541-012C-FFF5-2E829B90C8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Forms</a:t>
            </a:r>
          </a:p>
          <a:p>
            <a:pPr lvl="1"/>
            <a:r>
              <a:rPr lang="fr-FR" b="1" dirty="0"/>
              <a:t>User Management</a:t>
            </a:r>
            <a:r>
              <a:rPr lang="fr-FR" dirty="0"/>
              <a:t> – Registration, Login, Profile Update</a:t>
            </a:r>
          </a:p>
          <a:p>
            <a:pPr lvl="1"/>
            <a:r>
              <a:rPr lang="en-IN" b="1" dirty="0"/>
              <a:t>Chatbot</a:t>
            </a:r>
            <a:r>
              <a:rPr lang="en-IN" dirty="0"/>
              <a:t> – Query Input, Feedback</a:t>
            </a:r>
          </a:p>
          <a:p>
            <a:pPr lvl="1"/>
            <a:r>
              <a:rPr lang="en-US" b="1" dirty="0"/>
              <a:t>Exam Mode</a:t>
            </a:r>
            <a:r>
              <a:rPr lang="en-US" dirty="0"/>
              <a:t> – Exam Setup, Answer Submission</a:t>
            </a:r>
          </a:p>
          <a:p>
            <a:pPr lvl="1"/>
            <a:r>
              <a:rPr lang="en-IN" b="1" dirty="0"/>
              <a:t>PYQ Module</a:t>
            </a:r>
            <a:r>
              <a:rPr lang="en-IN" dirty="0"/>
              <a:t> – Question Filter Form</a:t>
            </a:r>
          </a:p>
          <a:p>
            <a:pPr lvl="1"/>
            <a:r>
              <a:rPr lang="en-IN" b="1" dirty="0"/>
              <a:t>Reports</a:t>
            </a:r>
            <a:r>
              <a:rPr lang="en-IN" dirty="0"/>
              <a:t> – Report Generation &amp; Download</a:t>
            </a:r>
          </a:p>
          <a:p>
            <a:pPr lvl="1"/>
            <a:r>
              <a:rPr lang="en-IN" b="1" dirty="0"/>
              <a:t>Admin</a:t>
            </a:r>
            <a:r>
              <a:rPr lang="en-IN" dirty="0"/>
              <a:t> – User &amp; Content Management</a:t>
            </a:r>
          </a:p>
          <a:p>
            <a:r>
              <a:rPr lang="en-IN" dirty="0"/>
              <a:t>Database Tables</a:t>
            </a:r>
          </a:p>
          <a:p>
            <a:pPr lvl="1"/>
            <a:r>
              <a:rPr lang="en-IN" b="1" dirty="0"/>
              <a:t>Users, Roles</a:t>
            </a:r>
            <a:r>
              <a:rPr lang="en-IN" dirty="0"/>
              <a:t> – User Management</a:t>
            </a:r>
          </a:p>
          <a:p>
            <a:pPr lvl="1"/>
            <a:r>
              <a:rPr lang="en-IN" b="1" dirty="0"/>
              <a:t>Chat History</a:t>
            </a:r>
            <a:r>
              <a:rPr lang="en-IN" dirty="0"/>
              <a:t> – Chatbot Module</a:t>
            </a:r>
          </a:p>
          <a:p>
            <a:pPr lvl="1"/>
            <a:r>
              <a:rPr lang="en-IN" b="1" dirty="0"/>
              <a:t>PYQ Database, Vector Embeddings</a:t>
            </a:r>
            <a:r>
              <a:rPr lang="en-IN" dirty="0"/>
              <a:t> – PYQ Retrieval</a:t>
            </a:r>
          </a:p>
          <a:p>
            <a:pPr lvl="1"/>
            <a:r>
              <a:rPr lang="en-IN" b="1" dirty="0"/>
              <a:t>Exam Sessions, Exam Responses</a:t>
            </a:r>
            <a:r>
              <a:rPr lang="en-IN" dirty="0"/>
              <a:t> – Exam Mode</a:t>
            </a:r>
          </a:p>
          <a:p>
            <a:pPr lvl="1"/>
            <a:r>
              <a:rPr lang="en-IN" b="1" dirty="0"/>
              <a:t>Performance Metrics, Reports</a:t>
            </a:r>
            <a:r>
              <a:rPr lang="en-IN" dirty="0"/>
              <a:t> – Analytics</a:t>
            </a:r>
          </a:p>
          <a:p>
            <a:pPr lvl="1"/>
            <a:r>
              <a:rPr lang="en-IN" b="1" dirty="0" err="1"/>
              <a:t>AuditLogs</a:t>
            </a:r>
            <a:r>
              <a:rPr lang="en-IN" dirty="0"/>
              <a:t> – Admin Module</a:t>
            </a:r>
          </a:p>
        </p:txBody>
      </p:sp>
    </p:spTree>
    <p:extLst>
      <p:ext uri="{BB962C8B-B14F-4D97-AF65-F5344CB8AC3E}">
        <p14:creationId xmlns:p14="http://schemas.microsoft.com/office/powerpoint/2010/main" val="244208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1FAE-645A-5724-A557-953A410A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Expected Output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05BB7-733B-6499-2150-E890581E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827"/>
            <a:ext cx="10515600" cy="4351200"/>
          </a:xfrm>
        </p:spPr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en-IN" dirty="0"/>
              <a:t>End-to-End System Workflow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IN" dirty="0"/>
              <a:t>Login &amp; Dashboard</a:t>
            </a:r>
          </a:p>
          <a:p>
            <a:pPr marL="1447800" lvl="2" indent="-457200">
              <a:buFont typeface="Arial" panose="020B0604020202020204" pitchFamily="34" charset="0"/>
              <a:buChar char="•"/>
            </a:pPr>
            <a:r>
              <a:rPr lang="en-US" dirty="0"/>
              <a:t>Student logs in and selects target exam</a:t>
            </a:r>
          </a:p>
          <a:p>
            <a:pPr marL="1447800" lvl="2" indent="-457200">
              <a:buFont typeface="Arial" panose="020B0604020202020204" pitchFamily="34" charset="0"/>
              <a:buChar char="•"/>
            </a:pPr>
            <a:r>
              <a:rPr lang="en-US" dirty="0"/>
              <a:t>Dashboard shows study plan, weak topics, and progress summary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IN" dirty="0"/>
              <a:t>Study Mode – Socratic Chat</a:t>
            </a:r>
          </a:p>
          <a:p>
            <a:pPr marL="1447800" lvl="2" indent="-457200"/>
            <a:r>
              <a:rPr lang="en-IN" dirty="0"/>
              <a:t>Interactive chatbot asks guiding questions</a:t>
            </a:r>
          </a:p>
          <a:p>
            <a:pPr marL="1447800" lvl="2" indent="-457200"/>
            <a:r>
              <a:rPr lang="en-US" dirty="0"/>
              <a:t>Encourages active recall instead of direct answers</a:t>
            </a:r>
            <a:endParaRPr lang="en-IN" dirty="0"/>
          </a:p>
          <a:p>
            <a:pPr marL="990600" lvl="1" indent="-457200">
              <a:buFont typeface="+mj-lt"/>
              <a:buAutoNum type="arabicPeriod"/>
            </a:pPr>
            <a:r>
              <a:rPr lang="en-IN" dirty="0"/>
              <a:t>PYQ Retrieval</a:t>
            </a:r>
          </a:p>
          <a:p>
            <a:pPr marL="1447800" lvl="2" indent="-457200"/>
            <a:r>
              <a:rPr lang="en-US" dirty="0"/>
              <a:t>Filter PYQs by exam, year, subject, and difficulty</a:t>
            </a:r>
          </a:p>
          <a:p>
            <a:pPr marL="1447800" lvl="2" indent="-457200"/>
            <a:r>
              <a:rPr lang="en-US" dirty="0"/>
              <a:t>Questions fetched using RAG to avoid hallucinations</a:t>
            </a:r>
            <a:endParaRPr lang="en-IN" dirty="0"/>
          </a:p>
          <a:p>
            <a:pPr marL="990600" lvl="1" indent="-457200">
              <a:buFont typeface="+mj-lt"/>
              <a:buAutoNum type="arabicPeriod"/>
            </a:pPr>
            <a:r>
              <a:rPr lang="en-IN" dirty="0"/>
              <a:t>Exam Mode Simulation</a:t>
            </a:r>
          </a:p>
          <a:p>
            <a:pPr marL="1447800" lvl="2" indent="-457200"/>
            <a:r>
              <a:rPr lang="en-IN" dirty="0"/>
              <a:t>Timer-enabled, strict invigilator persona</a:t>
            </a:r>
          </a:p>
          <a:p>
            <a:pPr marL="1447800" lvl="2" indent="-457200"/>
            <a:r>
              <a:rPr lang="en-US" dirty="0"/>
              <a:t>Concise responses with exam-like constraints</a:t>
            </a:r>
            <a:endParaRPr lang="en-IN" dirty="0"/>
          </a:p>
          <a:p>
            <a:pPr marL="990600" lvl="1" indent="-457200">
              <a:buFont typeface="+mj-lt"/>
              <a:buAutoNum type="arabicPeriod"/>
            </a:pPr>
            <a:r>
              <a:rPr lang="en-IN" dirty="0"/>
              <a:t>Reports &amp; Analytics</a:t>
            </a:r>
          </a:p>
          <a:p>
            <a:pPr marL="1447800" lvl="2" indent="-457200"/>
            <a:r>
              <a:rPr lang="en-US" dirty="0"/>
              <a:t>Visual progress reports and topic coverage</a:t>
            </a:r>
          </a:p>
          <a:p>
            <a:pPr marL="1447800" lvl="2" indent="-457200"/>
            <a:r>
              <a:rPr lang="en-US" dirty="0"/>
              <a:t>AI-updated study schedule using spaced repetition</a:t>
            </a:r>
          </a:p>
        </p:txBody>
      </p:sp>
    </p:spTree>
    <p:extLst>
      <p:ext uri="{BB962C8B-B14F-4D97-AF65-F5344CB8AC3E}">
        <p14:creationId xmlns:p14="http://schemas.microsoft.com/office/powerpoint/2010/main" val="2134465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2D92-E04B-7D0C-7661-067D74DF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If your product need to change to Mobile stack what will be changes required?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CFD7-367D-E22F-4CF1-4C02F6652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Frontend</a:t>
            </a:r>
          </a:p>
          <a:p>
            <a:pPr lvl="1"/>
            <a:r>
              <a:rPr lang="en-US" dirty="0"/>
              <a:t>Replace Angular web UI with </a:t>
            </a:r>
            <a:r>
              <a:rPr lang="en-US" b="1" dirty="0"/>
              <a:t>Flutter / React Native</a:t>
            </a:r>
          </a:p>
          <a:p>
            <a:pPr lvl="1"/>
            <a:r>
              <a:rPr lang="en-US" dirty="0"/>
              <a:t>Optimize chat UI, exam timer, and dashboards for small screens</a:t>
            </a:r>
          </a:p>
          <a:p>
            <a:pPr lvl="1"/>
            <a:r>
              <a:rPr lang="en-US" dirty="0"/>
              <a:t>Add offline access for saved PYQs and study plans</a:t>
            </a:r>
          </a:p>
          <a:p>
            <a:r>
              <a:rPr lang="en-IN" dirty="0"/>
              <a:t>Backend</a:t>
            </a:r>
          </a:p>
          <a:p>
            <a:pPr lvl="1"/>
            <a:r>
              <a:rPr lang="en-US" dirty="0"/>
              <a:t>Existing </a:t>
            </a:r>
            <a:r>
              <a:rPr lang="en-US" b="1" dirty="0"/>
              <a:t>Node.js + Express APIs remain unchanged</a:t>
            </a:r>
          </a:p>
          <a:p>
            <a:pPr lvl="1"/>
            <a:r>
              <a:rPr lang="en-US" dirty="0"/>
              <a:t>Add API optimization for low bandwidth and mobile latency</a:t>
            </a:r>
          </a:p>
          <a:p>
            <a:r>
              <a:rPr lang="en-IN" dirty="0"/>
              <a:t>AI &amp; Data Layer</a:t>
            </a:r>
          </a:p>
          <a:p>
            <a:pPr lvl="1"/>
            <a:r>
              <a:rPr lang="en-IN" dirty="0"/>
              <a:t>AI models (LLM, RAG, scheduling algorithms) stay on cloud</a:t>
            </a:r>
          </a:p>
          <a:p>
            <a:pPr lvl="1"/>
            <a:r>
              <a:rPr lang="en-US" dirty="0"/>
              <a:t>Mobile app communicates securely via REST / </a:t>
            </a:r>
            <a:r>
              <a:rPr lang="en-US" dirty="0" err="1"/>
              <a:t>GraphQL</a:t>
            </a:r>
            <a:r>
              <a:rPr lang="en-US" dirty="0"/>
              <a:t> APIs</a:t>
            </a:r>
          </a:p>
          <a:p>
            <a:r>
              <a:rPr lang="en-IN" dirty="0"/>
              <a:t>Mobile-Specific Features</a:t>
            </a:r>
          </a:p>
          <a:p>
            <a:pPr lvl="1"/>
            <a:r>
              <a:rPr lang="en-US" dirty="0"/>
              <a:t>Push notifications for study reminders and exam alerts</a:t>
            </a:r>
          </a:p>
          <a:p>
            <a:pPr lvl="1"/>
            <a:r>
              <a:rPr lang="en-IN" dirty="0"/>
              <a:t>Device-based authentication (biometrics, OTP)</a:t>
            </a:r>
          </a:p>
          <a:p>
            <a:pPr lvl="1"/>
            <a:r>
              <a:rPr lang="en-US" dirty="0"/>
              <a:t>Background sync for analytics and reports</a:t>
            </a:r>
          </a:p>
          <a:p>
            <a:r>
              <a:rPr lang="en-IN" dirty="0"/>
              <a:t>Deployment</a:t>
            </a:r>
          </a:p>
          <a:p>
            <a:pPr lvl="1"/>
            <a:r>
              <a:rPr lang="en-US" dirty="0"/>
              <a:t>Publish apps on </a:t>
            </a:r>
            <a:r>
              <a:rPr lang="en-US" b="1" dirty="0"/>
              <a:t>Google Play Store / Apple App Store</a:t>
            </a:r>
          </a:p>
          <a:p>
            <a:pPr lvl="1"/>
            <a:r>
              <a:rPr lang="en-US" dirty="0"/>
              <a:t>Use Firebase / AWS SNS for notifications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284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21B6-193C-529A-80C2-6AA2FD23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If your product can become a </a:t>
            </a:r>
            <a:r>
              <a:rPr lang="en-US" dirty="0" err="1">
                <a:solidFill>
                  <a:srgbClr val="FF0000"/>
                </a:solidFill>
              </a:rPr>
              <a:t>devops</a:t>
            </a:r>
            <a:r>
              <a:rPr lang="en-US" dirty="0">
                <a:solidFill>
                  <a:srgbClr val="FF0000"/>
                </a:solidFill>
              </a:rPr>
              <a:t> solutions how it can be done?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08486-5211-B180-04D3-9669EA629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Containerization</a:t>
            </a:r>
          </a:p>
          <a:p>
            <a:pPr lvl="1"/>
            <a:r>
              <a:rPr lang="en-US" dirty="0"/>
              <a:t>Package frontend, backend, and AI services using </a:t>
            </a:r>
            <a:r>
              <a:rPr lang="en-US" b="1" dirty="0"/>
              <a:t>Docker</a:t>
            </a:r>
          </a:p>
          <a:p>
            <a:pPr lvl="1"/>
            <a:r>
              <a:rPr lang="en-IN" dirty="0"/>
              <a:t>Ensures consistent deployment across environments</a:t>
            </a:r>
          </a:p>
          <a:p>
            <a:r>
              <a:rPr lang="en-IN" dirty="0"/>
              <a:t>CI/CD Pipeline</a:t>
            </a:r>
          </a:p>
          <a:p>
            <a:pPr lvl="1"/>
            <a:r>
              <a:rPr lang="en-US" dirty="0"/>
              <a:t>Automate build, test, and deployment using </a:t>
            </a:r>
            <a:r>
              <a:rPr lang="en-US" b="1" dirty="0"/>
              <a:t>GitHub Actions / Jenkins</a:t>
            </a:r>
          </a:p>
          <a:p>
            <a:pPr lvl="1"/>
            <a:r>
              <a:rPr lang="en-US" dirty="0"/>
              <a:t>Enables faster feature updates and AI model versioning</a:t>
            </a:r>
          </a:p>
          <a:p>
            <a:r>
              <a:rPr lang="en-IN" dirty="0"/>
              <a:t>Microservices Architecture</a:t>
            </a:r>
          </a:p>
          <a:p>
            <a:pPr lvl="1"/>
            <a:r>
              <a:rPr lang="en-US" dirty="0"/>
              <a:t>Separate services for chatbot, RAG retrieval, scheduling, and analytics</a:t>
            </a:r>
          </a:p>
          <a:p>
            <a:pPr lvl="1"/>
            <a:r>
              <a:rPr lang="en-US" dirty="0"/>
              <a:t>Improves scalability and fault isolation</a:t>
            </a:r>
          </a:p>
          <a:p>
            <a:r>
              <a:rPr lang="en-IN" dirty="0"/>
              <a:t>Cloud Infrastructure</a:t>
            </a:r>
          </a:p>
          <a:p>
            <a:pPr lvl="1"/>
            <a:r>
              <a:rPr lang="en-US" dirty="0"/>
              <a:t>Deploy on </a:t>
            </a:r>
            <a:r>
              <a:rPr lang="en-US" b="1" dirty="0"/>
              <a:t>AWS / Azure / GCP</a:t>
            </a:r>
            <a:r>
              <a:rPr lang="en-US" dirty="0"/>
              <a:t> using auto-scaling</a:t>
            </a:r>
          </a:p>
          <a:p>
            <a:pPr lvl="1"/>
            <a:r>
              <a:rPr lang="en-US" dirty="0"/>
              <a:t>Use managed databases and storage for PYQ datasets</a:t>
            </a:r>
          </a:p>
          <a:p>
            <a:r>
              <a:rPr lang="en-IN" dirty="0"/>
              <a:t>Monitoring &amp; Logging</a:t>
            </a:r>
          </a:p>
          <a:p>
            <a:pPr lvl="1"/>
            <a:r>
              <a:rPr lang="en-IN" dirty="0"/>
              <a:t>Implement </a:t>
            </a:r>
            <a:r>
              <a:rPr lang="en-IN" b="1" dirty="0"/>
              <a:t>Prometheus, Grafana, ELK stack</a:t>
            </a:r>
          </a:p>
          <a:p>
            <a:pPr lvl="1"/>
            <a:r>
              <a:rPr lang="en-US" dirty="0"/>
              <a:t>Track system health, latency, and user activity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253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4997-B8C4-D3F4-FE05-B1E4F42D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is your proposed solution for integrating this product to cloud?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92ECF-55F9-B6BF-8B33-5E4C2BCAC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Cloud Platform</a:t>
            </a:r>
          </a:p>
          <a:p>
            <a:pPr lvl="1"/>
            <a:r>
              <a:rPr lang="en-US" dirty="0"/>
              <a:t>Deploy application on </a:t>
            </a:r>
            <a:r>
              <a:rPr lang="en-US" b="1" dirty="0"/>
              <a:t>AWS / Azure / GCP</a:t>
            </a:r>
          </a:p>
          <a:p>
            <a:pPr lvl="1"/>
            <a:r>
              <a:rPr lang="en-US" dirty="0"/>
              <a:t>Use cloud-native services for scalability and reliability</a:t>
            </a:r>
          </a:p>
          <a:p>
            <a:r>
              <a:rPr lang="en-IN" dirty="0"/>
              <a:t>Application Deployment</a:t>
            </a:r>
          </a:p>
          <a:p>
            <a:pPr lvl="1"/>
            <a:r>
              <a:rPr lang="en-IN" dirty="0"/>
              <a:t>Host frontend on </a:t>
            </a:r>
            <a:r>
              <a:rPr lang="en-IN" b="1" dirty="0"/>
              <a:t>Cloud Storage + CDN</a:t>
            </a:r>
          </a:p>
          <a:p>
            <a:pPr lvl="1"/>
            <a:r>
              <a:rPr lang="en-US" dirty="0"/>
              <a:t>Deploy backend APIs and AI services using </a:t>
            </a:r>
            <a:r>
              <a:rPr lang="en-US" b="1" dirty="0"/>
              <a:t>Docker &amp; Kubernetes</a:t>
            </a:r>
          </a:p>
          <a:p>
            <a:r>
              <a:rPr lang="en-IN" dirty="0"/>
              <a:t>AI &amp; Data Services</a:t>
            </a:r>
          </a:p>
          <a:p>
            <a:pPr lvl="1"/>
            <a:r>
              <a:rPr lang="en-US" dirty="0"/>
              <a:t>Run LLM, RAG pipeline, and scheduling algorithms on cloud compute</a:t>
            </a:r>
          </a:p>
          <a:p>
            <a:pPr lvl="1"/>
            <a:r>
              <a:rPr lang="en-US" dirty="0"/>
              <a:t>Store PYQs, embeddings, and chat history in managed databases</a:t>
            </a:r>
          </a:p>
          <a:p>
            <a:r>
              <a:rPr lang="en-IN" dirty="0"/>
              <a:t>Security &amp; Access</a:t>
            </a:r>
          </a:p>
          <a:p>
            <a:pPr lvl="1"/>
            <a:r>
              <a:rPr lang="en-US" dirty="0"/>
              <a:t>Use IAM, HTTPS, and encrypted storage for data protection</a:t>
            </a:r>
          </a:p>
          <a:p>
            <a:pPr lvl="1"/>
            <a:r>
              <a:rPr lang="en-US" dirty="0"/>
              <a:t>Role-based access for students and admins</a:t>
            </a:r>
          </a:p>
          <a:p>
            <a:r>
              <a:rPr lang="en-IN" dirty="0"/>
              <a:t>Scalability &amp; Availability</a:t>
            </a:r>
          </a:p>
          <a:p>
            <a:pPr lvl="1"/>
            <a:r>
              <a:rPr lang="en-US" dirty="0"/>
              <a:t>Auto-scaling to handle peak exam-time traffic</a:t>
            </a:r>
          </a:p>
          <a:p>
            <a:pPr lvl="1"/>
            <a:r>
              <a:rPr lang="en-US" dirty="0"/>
              <a:t>Load balancers ensure high availability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534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4B4B-917F-3EFC-8C2C-0125F7B2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List of White papers/research papers published related to this product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F31DF-986C-A429-8FAB-997FC5025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Selected Research Papers (Journal / Conference / </a:t>
            </a:r>
            <a:r>
              <a:rPr lang="en-US" dirty="0" err="1"/>
              <a:t>ArXiv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How to Build an Adaptive AI Tutor using Knowledge Graph-Enhanced RAG</a:t>
            </a:r>
            <a:r>
              <a:rPr lang="en-US" dirty="0"/>
              <a:t> — adaptive ITS with RAG + LLM foundations relevant to educational chatbots.</a:t>
            </a:r>
          </a:p>
          <a:p>
            <a:pPr lvl="1"/>
            <a:r>
              <a:rPr lang="en-US" i="1" dirty="0"/>
              <a:t>Battling </a:t>
            </a:r>
            <a:r>
              <a:rPr lang="en-US" i="1" dirty="0" err="1"/>
              <a:t>Botpoop</a:t>
            </a:r>
            <a:r>
              <a:rPr lang="en-US" i="1" dirty="0"/>
              <a:t> using GenAI for Higher Education</a:t>
            </a:r>
            <a:r>
              <a:rPr lang="en-US" dirty="0"/>
              <a:t> — RAG chatbot deployed in real learning environment, focusing on reducing low-quality output.</a:t>
            </a:r>
          </a:p>
          <a:p>
            <a:pPr lvl="1"/>
            <a:r>
              <a:rPr lang="en-US" i="1" dirty="0"/>
              <a:t>Enhancing Critical Thinking in Education by means of a Socratic Chatbot</a:t>
            </a:r>
            <a:r>
              <a:rPr lang="en-US" dirty="0"/>
              <a:t> — Socratic questioning with LLMs to promote reflection and active learning.</a:t>
            </a:r>
          </a:p>
          <a:p>
            <a:pPr lvl="1"/>
            <a:r>
              <a:rPr lang="en-US" i="1" dirty="0" err="1"/>
              <a:t>EduChat</a:t>
            </a:r>
            <a:r>
              <a:rPr lang="en-US" i="1" dirty="0"/>
              <a:t>: A Large-Scale LLM-based Chatbot System for Intelligent Education</a:t>
            </a:r>
            <a:r>
              <a:rPr lang="en-US" dirty="0"/>
              <a:t> — educational chatbot integrating LLM responses for personalized support. </a:t>
            </a:r>
          </a:p>
          <a:p>
            <a:pPr lvl="1"/>
            <a:r>
              <a:rPr lang="en-US" i="1" dirty="0"/>
              <a:t>Promoting Student Engagement with </a:t>
            </a:r>
            <a:r>
              <a:rPr lang="en-US" i="1" dirty="0" err="1"/>
              <a:t>GPTutor</a:t>
            </a:r>
            <a:r>
              <a:rPr lang="en-US" dirty="0"/>
              <a:t> — study on generative AI-powered tutoring systems in educational settings.</a:t>
            </a:r>
          </a:p>
          <a:p>
            <a:pPr lvl="1"/>
            <a:r>
              <a:rPr lang="en-US" i="1" dirty="0"/>
              <a:t>Interacting with Educational Chatbots: A Systematic Review</a:t>
            </a:r>
            <a:r>
              <a:rPr lang="en-US" dirty="0"/>
              <a:t> — overview of conversational agents in learning contexts.</a:t>
            </a:r>
          </a:p>
          <a:p>
            <a:r>
              <a:rPr lang="en-IN" dirty="0"/>
              <a:t>Journals &amp; Conferences to Reference</a:t>
            </a:r>
          </a:p>
          <a:p>
            <a:pPr lvl="1"/>
            <a:r>
              <a:rPr lang="en-US" b="1" dirty="0"/>
              <a:t>IEEE Transactions on Learning Technologies</a:t>
            </a:r>
            <a:r>
              <a:rPr lang="en-US" dirty="0"/>
              <a:t> – publishes research on technologies supporting human learning. </a:t>
            </a:r>
          </a:p>
          <a:p>
            <a:pPr lvl="1"/>
            <a:r>
              <a:rPr lang="en-US" b="1" dirty="0"/>
              <a:t>Education and Information Technologies</a:t>
            </a:r>
            <a:r>
              <a:rPr lang="en-US" dirty="0"/>
              <a:t> – covers studies on intelligent educational systems including chatbots.</a:t>
            </a:r>
          </a:p>
          <a:p>
            <a:pPr lvl="1"/>
            <a:r>
              <a:rPr lang="en-US" b="1" dirty="0"/>
              <a:t>Smart Learning Environments</a:t>
            </a:r>
            <a:r>
              <a:rPr lang="en-US" dirty="0"/>
              <a:t> – systematic AI in tutoring systems research.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D332D-DD22-0D2D-426B-4B6DA5CCB8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Relevant Research Labs / Groups</a:t>
            </a:r>
          </a:p>
          <a:p>
            <a:r>
              <a:rPr lang="en-US" sz="1600" b="1" dirty="0"/>
              <a:t>ACM SIGAI (Special Interest Group on Artificial Intelligence)</a:t>
            </a:r>
            <a:r>
              <a:rPr lang="en-US" sz="1600" dirty="0"/>
              <a:t> – promotes interdisciplinary AI research, including educational AI.</a:t>
            </a:r>
          </a:p>
          <a:p>
            <a:r>
              <a:rPr lang="en-US" sz="1600" b="1" dirty="0"/>
              <a:t>Institute for Intelligent Systems (University of Memphis)</a:t>
            </a:r>
            <a:r>
              <a:rPr lang="en-US" sz="1600" dirty="0"/>
              <a:t> – developers of </a:t>
            </a:r>
            <a:r>
              <a:rPr lang="en-US" sz="1600" b="1" dirty="0" err="1"/>
              <a:t>AutoTutor</a:t>
            </a:r>
            <a:r>
              <a:rPr lang="en-US" sz="1600" dirty="0"/>
              <a:t>, an early dialog-based ITS with research insights on conversational tutoring.</a:t>
            </a:r>
          </a:p>
          <a:p>
            <a:r>
              <a:rPr lang="en-US" sz="1600" b="1" dirty="0"/>
              <a:t>CARNEGIE MELLON University – Project LISTEN / </a:t>
            </a:r>
            <a:r>
              <a:rPr lang="en-US" sz="1600" b="1" dirty="0" err="1"/>
              <a:t>RoboTutor</a:t>
            </a:r>
            <a:r>
              <a:rPr lang="en-US" sz="1600" dirty="0"/>
              <a:t> – long-term research on intelligent tutoring and adaptive learning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5473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A49-0785-AA41-397D-E9437347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Cost of the product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F8066-7DFA-98D6-D580-2049CCFF1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Software &amp; Platform Costs</a:t>
            </a:r>
          </a:p>
          <a:p>
            <a:pPr lvl="1"/>
            <a:r>
              <a:rPr lang="en-IN" dirty="0"/>
              <a:t>Frontend (Web / Mobile UI)</a:t>
            </a:r>
          </a:p>
          <a:p>
            <a:pPr lvl="2"/>
            <a:r>
              <a:rPr lang="en-IN" dirty="0"/>
              <a:t>Angular / Flutter: </a:t>
            </a:r>
            <a:r>
              <a:rPr lang="en-IN" b="1" dirty="0"/>
              <a:t>Open Source (₹0)</a:t>
            </a:r>
          </a:p>
          <a:p>
            <a:pPr lvl="1"/>
            <a:r>
              <a:rPr lang="en-IN" dirty="0"/>
              <a:t>Backend (Node.js, Express)</a:t>
            </a:r>
          </a:p>
          <a:p>
            <a:pPr lvl="2"/>
            <a:r>
              <a:rPr lang="en-IN" dirty="0"/>
              <a:t>Open Source: </a:t>
            </a:r>
            <a:r>
              <a:rPr lang="en-IN" b="1" dirty="0"/>
              <a:t>₹0</a:t>
            </a:r>
          </a:p>
          <a:p>
            <a:r>
              <a:rPr lang="en-IN" dirty="0"/>
              <a:t>AI &amp; Processing Costs</a:t>
            </a:r>
          </a:p>
          <a:p>
            <a:pPr lvl="1"/>
            <a:r>
              <a:rPr lang="en-IN" dirty="0"/>
              <a:t>LLM API / Model Hosting</a:t>
            </a:r>
          </a:p>
          <a:p>
            <a:pPr lvl="2"/>
            <a:r>
              <a:rPr lang="en-IN" dirty="0"/>
              <a:t>Cloud-hosted LLM (OpenAI / Azure / open-source </a:t>
            </a:r>
            <a:r>
              <a:rPr lang="en-IN" dirty="0" err="1"/>
              <a:t>LLaMA</a:t>
            </a:r>
            <a:r>
              <a:rPr lang="en-IN" dirty="0"/>
              <a:t>):</a:t>
            </a:r>
          </a:p>
          <a:p>
            <a:pPr lvl="2"/>
            <a:r>
              <a:rPr lang="en-US" dirty="0"/>
              <a:t>₹5,000 – ₹20,000 / month (based on usage)</a:t>
            </a:r>
          </a:p>
          <a:p>
            <a:pPr lvl="1"/>
            <a:r>
              <a:rPr lang="en-IN" dirty="0"/>
              <a:t>RAG Pipeline &amp; Vector Search</a:t>
            </a:r>
          </a:p>
          <a:p>
            <a:pPr lvl="2"/>
            <a:r>
              <a:rPr lang="en-IN" dirty="0"/>
              <a:t>Embedding generation + retrieval processing</a:t>
            </a:r>
          </a:p>
          <a:p>
            <a:pPr lvl="2"/>
            <a:r>
              <a:rPr lang="en-IN" dirty="0"/>
              <a:t>₹3,000 – ₹8,000 / month</a:t>
            </a:r>
          </a:p>
          <a:p>
            <a:r>
              <a:rPr lang="en-IN" dirty="0"/>
              <a:t>Database &amp; Storage</a:t>
            </a:r>
          </a:p>
          <a:p>
            <a:pPr lvl="1"/>
            <a:r>
              <a:rPr lang="en-US" dirty="0"/>
              <a:t>MongoDB Atlas (Chat logs, users, reports)</a:t>
            </a:r>
          </a:p>
          <a:p>
            <a:pPr lvl="2"/>
            <a:r>
              <a:rPr lang="en-IN" dirty="0"/>
              <a:t>₹2,000 – ₹5,000 / month</a:t>
            </a:r>
          </a:p>
          <a:p>
            <a:pPr lvl="1"/>
            <a:r>
              <a:rPr lang="en-US" dirty="0"/>
              <a:t>Vector Database (FAISS / Pinecone / </a:t>
            </a:r>
            <a:r>
              <a:rPr lang="en-US" dirty="0" err="1"/>
              <a:t>Weaviate</a:t>
            </a:r>
            <a:r>
              <a:rPr lang="en-US" dirty="0"/>
              <a:t>)</a:t>
            </a:r>
          </a:p>
          <a:p>
            <a:pPr lvl="2"/>
            <a:r>
              <a:rPr lang="en-IN" dirty="0"/>
              <a:t>₹3,000 – ₹7,000 / month</a:t>
            </a:r>
          </a:p>
          <a:p>
            <a:pPr lvl="1"/>
            <a:r>
              <a:rPr lang="en-IN" dirty="0"/>
              <a:t>Cloud Storage (PYQ PDFs, reports)</a:t>
            </a:r>
          </a:p>
          <a:p>
            <a:pPr lvl="2"/>
            <a:r>
              <a:rPr lang="en-IN" dirty="0"/>
              <a:t>₹1,000 – ₹3,000 / month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A35B-DC9A-D9B6-9FDB-70FFCEE1CE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Hardware / Cloud Infrastructure</a:t>
            </a:r>
          </a:p>
          <a:p>
            <a:pPr lvl="1"/>
            <a:r>
              <a:rPr lang="fr-FR" dirty="0"/>
              <a:t>Cloud </a:t>
            </a:r>
            <a:r>
              <a:rPr lang="fr-FR" dirty="0" err="1"/>
              <a:t>Compute</a:t>
            </a:r>
            <a:r>
              <a:rPr lang="fr-FR" dirty="0"/>
              <a:t> (CPU/GPU instances)</a:t>
            </a:r>
          </a:p>
          <a:p>
            <a:pPr lvl="2"/>
            <a:r>
              <a:rPr lang="en-IN" dirty="0"/>
              <a:t>₹5,000 – ₹15,000 / month</a:t>
            </a:r>
          </a:p>
          <a:p>
            <a:pPr lvl="1"/>
            <a:r>
              <a:rPr lang="en-IN" dirty="0"/>
              <a:t>Load Balancer &amp; Auto-Scaling</a:t>
            </a:r>
          </a:p>
          <a:p>
            <a:pPr lvl="2"/>
            <a:r>
              <a:rPr lang="en-IN" dirty="0"/>
              <a:t>₹2,000 – ₹4,000 / month</a:t>
            </a:r>
          </a:p>
          <a:p>
            <a:r>
              <a:rPr lang="en-IN" dirty="0"/>
              <a:t>Visualization &amp; Monitoring</a:t>
            </a:r>
          </a:p>
          <a:p>
            <a:pPr lvl="1"/>
            <a:r>
              <a:rPr lang="en-IN" dirty="0"/>
              <a:t>Dashboards &amp; Analytics</a:t>
            </a:r>
          </a:p>
          <a:p>
            <a:pPr lvl="2"/>
            <a:r>
              <a:rPr lang="en-IN" dirty="0"/>
              <a:t>Chart libraries: Open Source</a:t>
            </a:r>
          </a:p>
          <a:p>
            <a:pPr lvl="1"/>
            <a:r>
              <a:rPr lang="en-IN" dirty="0"/>
              <a:t>Monitoring (Logs, Metrics)</a:t>
            </a:r>
          </a:p>
          <a:p>
            <a:pPr lvl="2"/>
            <a:r>
              <a:rPr lang="en-IN" dirty="0"/>
              <a:t>₹1,000 – ₹2,000 / month</a:t>
            </a:r>
          </a:p>
          <a:p>
            <a:r>
              <a:rPr lang="en-IN" dirty="0"/>
              <a:t>Estimated Total Cost</a:t>
            </a:r>
          </a:p>
          <a:p>
            <a:pPr lvl="1"/>
            <a:r>
              <a:rPr lang="en-IN" dirty="0"/>
              <a:t>Prototype / Academic Version:</a:t>
            </a:r>
          </a:p>
          <a:p>
            <a:pPr lvl="2"/>
            <a:r>
              <a:rPr lang="en-IN" dirty="0"/>
              <a:t>₹10,000 – ₹15,000 / month</a:t>
            </a:r>
          </a:p>
          <a:p>
            <a:pPr lvl="1"/>
            <a:r>
              <a:rPr lang="en-IN" dirty="0"/>
              <a:t>Production-Scale Version:</a:t>
            </a:r>
          </a:p>
          <a:p>
            <a:pPr lvl="2"/>
            <a:r>
              <a:rPr lang="en-IN" dirty="0"/>
              <a:t>₹25,000 – ₹40,000 / month</a:t>
            </a:r>
          </a:p>
        </p:txBody>
      </p:sp>
    </p:spTree>
    <p:extLst>
      <p:ext uri="{BB962C8B-B14F-4D97-AF65-F5344CB8AC3E}">
        <p14:creationId xmlns:p14="http://schemas.microsoft.com/office/powerpoint/2010/main" val="107793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2559-916E-DBA2-8939-FD54A7F0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Our Product is unique Because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A9D6-F951-96B8-8EBD-F69DA829A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4729"/>
            <a:ext cx="10515600" cy="4351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It Teaches, Not Just Answers</a:t>
            </a:r>
          </a:p>
          <a:p>
            <a:pPr lvl="1"/>
            <a:r>
              <a:rPr lang="en-US" dirty="0"/>
              <a:t>Uses the </a:t>
            </a:r>
            <a:r>
              <a:rPr lang="en-US" b="1" dirty="0"/>
              <a:t>Socratic Method</a:t>
            </a:r>
            <a:r>
              <a:rPr lang="en-US" dirty="0"/>
              <a:t> to guide students through questions, ensuring deep understanding instead of rote memorization.</a:t>
            </a:r>
          </a:p>
          <a:p>
            <a:r>
              <a:rPr lang="en-IN" dirty="0"/>
              <a:t>Exam-Realistic AI </a:t>
            </a:r>
            <a:r>
              <a:rPr lang="en-IN" dirty="0" err="1"/>
              <a:t>Behavior</a:t>
            </a:r>
            <a:endParaRPr lang="en-IN" dirty="0"/>
          </a:p>
          <a:p>
            <a:pPr lvl="1"/>
            <a:r>
              <a:rPr lang="en-US" dirty="0"/>
              <a:t>Features a strict </a:t>
            </a:r>
            <a:r>
              <a:rPr lang="en-US" b="1" dirty="0"/>
              <a:t>Exam Mode</a:t>
            </a:r>
            <a:r>
              <a:rPr lang="en-US" dirty="0"/>
              <a:t> that simulates real invigilation with time limits and concise responses.</a:t>
            </a:r>
          </a:p>
          <a:p>
            <a:r>
              <a:rPr lang="en-IN" dirty="0"/>
              <a:t>Hallucination-Free Learning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Retrieval-Augmented Generation (RAG)</a:t>
            </a:r>
            <a:r>
              <a:rPr lang="en-US" dirty="0"/>
              <a:t> with verified PYQ databases, ensuring accurate and trustworthy answers.</a:t>
            </a:r>
          </a:p>
          <a:p>
            <a:r>
              <a:rPr lang="en-IN" dirty="0"/>
              <a:t>Truly Personalized Preparation</a:t>
            </a:r>
          </a:p>
          <a:p>
            <a:pPr lvl="1"/>
            <a:r>
              <a:rPr lang="en-US" dirty="0"/>
              <a:t>Adapts study plans using </a:t>
            </a:r>
            <a:r>
              <a:rPr lang="en-US" b="1" dirty="0"/>
              <a:t>spaced repetition</a:t>
            </a:r>
            <a:r>
              <a:rPr lang="en-US" dirty="0"/>
              <a:t> based on individual weaknesses and performance.</a:t>
            </a:r>
          </a:p>
          <a:p>
            <a:r>
              <a:rPr lang="en-US" dirty="0"/>
              <a:t>Built for High-Stakes Indian Exams</a:t>
            </a:r>
          </a:p>
          <a:p>
            <a:pPr lvl="1"/>
            <a:r>
              <a:rPr lang="en-US" dirty="0"/>
              <a:t>Designed specifically for </a:t>
            </a:r>
            <a:r>
              <a:rPr lang="en-US" b="1" dirty="0"/>
              <a:t>UPSC, GATE, JEE, NEET, CAT</a:t>
            </a:r>
            <a:r>
              <a:rPr lang="en-US" dirty="0"/>
              <a:t>, unlike generic global chatbots.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724818"/>
      </p:ext>
    </p:extLst>
  </p:cSld>
  <p:clrMapOvr>
    <a:masterClrMapping/>
  </p:clrMapOvr>
</p:sld>
</file>

<file path=ppt/theme/theme1.xml><?xml version="1.0" encoding="utf-8"?>
<a:theme xmlns:a="http://schemas.openxmlformats.org/drawingml/2006/main" name="2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2967</Words>
  <Application>Microsoft Office PowerPoint</Application>
  <PresentationFormat>Widescreen</PresentationFormat>
  <Paragraphs>287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Avenir</vt:lpstr>
      <vt:lpstr>Calibri</vt:lpstr>
      <vt:lpstr>Garamond</vt:lpstr>
      <vt:lpstr>Poppins</vt:lpstr>
      <vt:lpstr>Times New Roman</vt:lpstr>
      <vt:lpstr>Wingdings</vt:lpstr>
      <vt:lpstr>2_Presentation slides</vt:lpstr>
      <vt:lpstr>Presentation slides</vt:lpstr>
      <vt:lpstr>Presentation Cover page</vt:lpstr>
      <vt:lpstr>1_Presentation Cover page</vt:lpstr>
      <vt:lpstr>1_Presentation slides</vt:lpstr>
      <vt:lpstr>23CSE461-Full Stack Frameworks</vt:lpstr>
      <vt:lpstr>Team Members</vt:lpstr>
      <vt:lpstr>About the product</vt:lpstr>
      <vt:lpstr>Products Compared</vt:lpstr>
      <vt:lpstr>Features of the product</vt:lpstr>
      <vt:lpstr>Reports</vt:lpstr>
      <vt:lpstr>Functional and Non functional Requirements of the project</vt:lpstr>
      <vt:lpstr>Why the product is important for users?</vt:lpstr>
      <vt:lpstr>AI Role in the product</vt:lpstr>
      <vt:lpstr>Algorithms and Technology Stack</vt:lpstr>
      <vt:lpstr>PowerPoint Presentation</vt:lpstr>
      <vt:lpstr>Building Data</vt:lpstr>
      <vt:lpstr>List of Companies working on the same problem </vt:lpstr>
      <vt:lpstr> Product Name, Slogan, Logo</vt:lpstr>
      <vt:lpstr>Market Stratergy and Overview</vt:lpstr>
      <vt:lpstr>Why the product is important for users?</vt:lpstr>
      <vt:lpstr>PowerPoint Presentation</vt:lpstr>
      <vt:lpstr>PowerPoint Presentation</vt:lpstr>
      <vt:lpstr>PowerPoint Presentation</vt:lpstr>
      <vt:lpstr>List of similar products in the market</vt:lpstr>
      <vt:lpstr>List of similar products in the market</vt:lpstr>
      <vt:lpstr>My product features</vt:lpstr>
      <vt:lpstr>PowerPoint Presentation</vt:lpstr>
      <vt:lpstr>PowerPoint Presentation</vt:lpstr>
      <vt:lpstr>Modules, Reports, Forms &amp; Tables</vt:lpstr>
      <vt:lpstr>Expected Output</vt:lpstr>
      <vt:lpstr>If your product need to change to Mobile stack what will be changes required?</vt:lpstr>
      <vt:lpstr>If your product can become a devops solutions how it can be done?</vt:lpstr>
      <vt:lpstr>What is your proposed solution for integrating this product to cloud?</vt:lpstr>
      <vt:lpstr>List of White papers/research papers published related to this product</vt:lpstr>
      <vt:lpstr>Cost of the product </vt:lpstr>
      <vt:lpstr>Our Product is unique Because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Senthil</dc:creator>
  <cp:lastModifiedBy>Prajith Maharaja</cp:lastModifiedBy>
  <cp:revision>3</cp:revision>
  <dcterms:modified xsi:type="dcterms:W3CDTF">2025-12-27T18:40:55Z</dcterms:modified>
</cp:coreProperties>
</file>